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drawingml.chart+xml" PartName="/ppt/charts/chart1.xml"/>
  <Override ContentType="application/vnd.ms-office.chartstyle+xml" PartName="/ppt/charts/style1.xml"/>
  <Override ContentType="application/vnd.ms-office.chartcolorstyle+xml" PartName="/ppt/charts/colors1.xml"/>
  <Override ContentType="application/vnd.openxmlformats-officedocument.drawingml.chart+xml" PartName="/ppt/charts/chart2.xml"/>
  <Override ContentType="application/vnd.ms-office.chartstyle+xml" PartName="/ppt/charts/style2.xml"/>
  <Override ContentType="application/vnd.ms-office.chartcolorstyle+xml" PartName="/ppt/charts/colors2.xml"/>
  <Override ContentType="application/vnd.openxmlformats-officedocument.drawingml.chart+xml" PartName="/ppt/charts/chart3.xml"/>
  <Override ContentType="application/vnd.ms-office.chartstyle+xml" PartName="/ppt/charts/style3.xml"/>
  <Override ContentType="application/vnd.ms-office.chartcolorstyle+xml" PartName="/ppt/charts/colors3.xml"/>
  <Override ContentType="application/vnd.openxmlformats-officedocument.drawingml.chart+xml" PartName="/ppt/charts/chart4.xml"/>
  <Override ContentType="application/vnd.ms-office.chartstyle+xml" PartName="/ppt/charts/style4.xml"/>
  <Override ContentType="application/vnd.ms-office.chartcolorstyle+xml" PartName="/ppt/charts/colors4.xml"/>
  <Override ContentType="application/vnd.openxmlformats-officedocument.drawingml.chart+xml" PartName="/ppt/charts/chart5.xml"/>
  <Override ContentType="application/vnd.ms-office.chartstyle+xml" PartName="/ppt/charts/style5.xml"/>
  <Override ContentType="application/vnd.ms-office.chartcolorstyle+xml" PartName="/ppt/charts/colors5.xml"/>
  <Override ContentType="application/vnd.openxmlformats-officedocument.drawingml.chart+xml" PartName="/ppt/charts/chart6.xml"/>
  <Override ContentType="application/vnd.ms-office.chartstyle+xml" PartName="/ppt/charts/style6.xml"/>
  <Override ContentType="application/vnd.ms-office.chartcolorstyle+xml" PartName="/ppt/charts/colors6.xml"/>
  <Override ContentType="application/vnd.openxmlformats-officedocument.drawingml.chart+xml" PartName="/ppt/charts/chart7.xml"/>
  <Override ContentType="application/vnd.ms-office.chartstyle+xml" PartName="/ppt/charts/style7.xml"/>
  <Override ContentType="application/vnd.ms-office.chartcolorstyle+xml" PartName="/ppt/charts/colors7.xml"/>
  <Override ContentType="application/vnd.openxmlformats-officedocument.drawingml.chart+xml" PartName="/ppt/charts/chart8.xml"/>
  <Override ContentType="application/vnd.ms-office.chartstyle+xml" PartName="/ppt/charts/style8.xml"/>
  <Override ContentType="application/vnd.ms-office.chartcolorstyle+xml" PartName="/ppt/charts/colors8.xml"/>
  <Override ContentType="application/vnd.openxmlformats-officedocument.drawingml.chart+xml" PartName="/ppt/charts/chart9.xml"/>
  <Override ContentType="application/vnd.ms-office.chartstyle+xml" PartName="/ppt/charts/style9.xml"/>
  <Override ContentType="application/vnd.ms-office.chartcolorstyle+xml" PartName="/ppt/charts/colors9.xml"/>
  <Override ContentType="application/vnd.openxmlformats-officedocument.drawingml.chart+xml" PartName="/ppt/charts/chart10.xml"/>
  <Override ContentType="application/vnd.ms-office.chartstyle+xml" PartName="/ppt/charts/style10.xml"/>
  <Override ContentType="application/vnd.ms-office.chartcolorstyle+xml" PartName="/ppt/charts/colors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1" Target="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0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1.xml" Type="http://schemas.microsoft.com/office/2011/relationships/chartColorStyle"/><Relationship Id="rId1" Target="style1.xml" Type="http://schemas.microsoft.com/office/2011/relationships/chartStyle"/></Relationships>
</file>

<file path=ppt/charts/_rels/chart2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2.xml" Type="http://schemas.microsoft.com/office/2011/relationships/chartColorStyle"/><Relationship Id="rId1" Target="style2.xml" Type="http://schemas.microsoft.com/office/2011/relationships/chartStyle"/></Relationships>
</file>

<file path=ppt/charts/_rels/chart3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3.xml" Type="http://schemas.microsoft.com/office/2011/relationships/chartColorStyle"/><Relationship Id="rId1" Target="style3.xml" Type="http://schemas.microsoft.com/office/2011/relationships/chartStyle"/></Relationships>
</file>

<file path=ppt/charts/_rels/chart4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4.xml" Type="http://schemas.microsoft.com/office/2011/relationships/chartColorStyle"/><Relationship Id="rId1" Target="style4.xml" Type="http://schemas.microsoft.com/office/2011/relationships/chartStyle"/></Relationships>
</file>

<file path=ppt/charts/_rels/chart5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5.xml" Type="http://schemas.microsoft.com/office/2011/relationships/chartColorStyle"/><Relationship Id="rId1" Target="style5.xml" Type="http://schemas.microsoft.com/office/2011/relationships/chartStyle"/></Relationships>
</file>

<file path=ppt/charts/_rels/chart6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6.xml" Type="http://schemas.microsoft.com/office/2011/relationships/chartColorStyle"/><Relationship Id="rId1" Target="style6.xml" Type="http://schemas.microsoft.com/office/2011/relationships/chartStyle"/></Relationships>
</file>

<file path=ppt/charts/_rels/chart7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7.xml" Type="http://schemas.microsoft.com/office/2011/relationships/chartColorStyle"/><Relationship Id="rId1" Target="style7.xml" Type="http://schemas.microsoft.com/office/2011/relationships/chartStyle"/></Relationships>
</file>

<file path=ppt/charts/_rels/chart8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8.xml" Type="http://schemas.microsoft.com/office/2011/relationships/chartColorStyle"/><Relationship Id="rId1" Target="style8.xml" Type="http://schemas.microsoft.com/office/2011/relationships/chartStyle"/></Relationships>
</file>

<file path=ppt/charts/_rels/chart9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9.xml" Type="http://schemas.microsoft.com/office/2011/relationships/chartColorStyle"/><Relationship Id="rId1" Target="style9.xml" Type="http://schemas.microsoft.com/office/2011/relationships/chartStyle"/></Relationships>
</file>

<file path=ppt/charts/_rels/chart10.xml.rels><?xml version="1.0" encoding="UTF-8" standalone="yes" ?><Relationships xmlns="http://schemas.openxmlformats.org/package/2006/relationships"><Relationship Id="rId3" Target="NULL" TargetMode="External" Type="http://schemas.openxmlformats.org/officeDocument/2006/relationships/oleObject"/><Relationship Id="rId2" Target="colors10.xml" Type="http://schemas.microsoft.com/office/2011/relationships/chartColorStyle"/><Relationship Id="rId1" Target="style10.xml" Type="http://schemas.microsoft.com/office/2011/relationships/chartStyl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17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Net Revenue in USD (revenue - discounts)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Pivot!$A$4:$A$9</c:f>
              <c:strCache>
                <c:ptCount val="5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</c:strCache>
            </c:strRef>
          </c:cat>
          <c:val>
            <c:numRef>
              <c:f>Pivot!$B$4:$B$9</c:f>
              <c:numCache>
                <c:formatCode>General</c:formatCode>
                <c:ptCount val="5"/>
                <c:pt idx="0">
                  <c:v>261758.12000000002</c:v>
                </c:pt>
                <c:pt idx="1">
                  <c:v>6285487.7699999968</c:v>
                </c:pt>
                <c:pt idx="2">
                  <c:v>8094457.2600000016</c:v>
                </c:pt>
                <c:pt idx="3">
                  <c:v>9654663.5500000082</c:v>
                </c:pt>
                <c:pt idx="4">
                  <c:v>20641987.26000005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E3-4F88-A8B4-A03E75BE5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90421680"/>
        <c:axId val="593357376"/>
      </c:lineChart>
      <c:catAx>
        <c:axId val="790421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52946379796359178"/>
              <c:y val="0.948924328798844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3357376"/>
        <c:crosses val="autoZero"/>
        <c:auto val="1"/>
        <c:lblAlgn val="ctr"/>
        <c:lblOffset val="100"/>
        <c:noMultiLvlLbl val="0"/>
      </c:catAx>
      <c:valAx>
        <c:axId val="593357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layout>
            <c:manualLayout>
              <c:xMode val="edge"/>
              <c:yMode val="edge"/>
              <c:x val="1.3296399665344859E-2"/>
              <c:y val="0.416649040033369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0421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5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</a:t>
            </a:r>
            <a:r>
              <a:rPr lang="en-US" baseline="0"/>
              <a:t> in Euros of diff. categories of bikes, by city, in Germany in March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multiLvlStrRef>
              <c:f>Pivot!$A$5:$A$40</c:f>
              <c:multiLvlStrCache>
                <c:ptCount val="31"/>
                <c:lvl>
                  <c:pt idx="0">
                    <c:v>Anklam</c:v>
                  </c:pt>
                  <c:pt idx="1">
                    <c:v>Berlin</c:v>
                  </c:pt>
                  <c:pt idx="2">
                    <c:v>Bochum</c:v>
                  </c:pt>
                  <c:pt idx="3">
                    <c:v>Frankfurt</c:v>
                  </c:pt>
                  <c:pt idx="4">
                    <c:v>Hamburg</c:v>
                  </c:pt>
                  <c:pt idx="5">
                    <c:v>Hannover</c:v>
                  </c:pt>
                  <c:pt idx="6">
                    <c:v>Heidelberg</c:v>
                  </c:pt>
                  <c:pt idx="7">
                    <c:v>Leipzig</c:v>
                  </c:pt>
                  <c:pt idx="8">
                    <c:v>Magdeburg</c:v>
                  </c:pt>
                  <c:pt idx="9">
                    <c:v>Munchen</c:v>
                  </c:pt>
                  <c:pt idx="10">
                    <c:v>Stuttgart</c:v>
                  </c:pt>
                  <c:pt idx="11">
                    <c:v>Berlin</c:v>
                  </c:pt>
                  <c:pt idx="12">
                    <c:v>Bochum</c:v>
                  </c:pt>
                  <c:pt idx="13">
                    <c:v>Frankfurt</c:v>
                  </c:pt>
                  <c:pt idx="14">
                    <c:v>Hamburg</c:v>
                  </c:pt>
                  <c:pt idx="15">
                    <c:v>Heidelberg</c:v>
                  </c:pt>
                  <c:pt idx="16">
                    <c:v>Leipzig</c:v>
                  </c:pt>
                  <c:pt idx="17">
                    <c:v>Magdeburg</c:v>
                  </c:pt>
                  <c:pt idx="18">
                    <c:v>Munchen</c:v>
                  </c:pt>
                  <c:pt idx="19">
                    <c:v>Stuttgart</c:v>
                  </c:pt>
                  <c:pt idx="20">
                    <c:v>Anklam</c:v>
                  </c:pt>
                  <c:pt idx="21">
                    <c:v>Berlin</c:v>
                  </c:pt>
                  <c:pt idx="22">
                    <c:v>Frankfurt</c:v>
                  </c:pt>
                  <c:pt idx="23">
                    <c:v>Hamburg</c:v>
                  </c:pt>
                  <c:pt idx="24">
                    <c:v>Hannover</c:v>
                  </c:pt>
                  <c:pt idx="25">
                    <c:v>Heidelberg</c:v>
                  </c:pt>
                  <c:pt idx="26">
                    <c:v>Leipzig</c:v>
                  </c:pt>
                  <c:pt idx="27">
                    <c:v>Magdeburg</c:v>
                  </c:pt>
                  <c:pt idx="28">
                    <c:v>Munchen</c:v>
                  </c:pt>
                  <c:pt idx="29">
                    <c:v>Stuttgart</c:v>
                  </c:pt>
                  <c:pt idx="30">
                    <c:v>Stuttgart</c:v>
                  </c:pt>
                </c:lvl>
                <c:lvl>
                  <c:pt idx="0">
                    <c:v>Offroad Bike </c:v>
                  </c:pt>
                  <c:pt idx="11">
                    <c:v>Roadbike </c:v>
                  </c:pt>
                  <c:pt idx="20">
                    <c:v>Touring Bike </c:v>
                  </c:pt>
                  <c:pt idx="30">
                    <c:v>Trend Bike </c:v>
                  </c:pt>
                </c:lvl>
              </c:multiLvlStrCache>
            </c:multiLvlStrRef>
          </c:cat>
          <c:val>
            <c:numRef>
              <c:f>Pivot!$B$5:$B$40</c:f>
              <c:numCache>
                <c:formatCode>General</c:formatCode>
                <c:ptCount val="31"/>
                <c:pt idx="0">
                  <c:v>66046.849600000016</c:v>
                </c:pt>
                <c:pt idx="1">
                  <c:v>136008.09630000003</c:v>
                </c:pt>
                <c:pt idx="2">
                  <c:v>15092.5869</c:v>
                </c:pt>
                <c:pt idx="3">
                  <c:v>86011.453100000013</c:v>
                </c:pt>
                <c:pt idx="4">
                  <c:v>103740.08510000001</c:v>
                </c:pt>
                <c:pt idx="5">
                  <c:v>24732.307100000005</c:v>
                </c:pt>
                <c:pt idx="6">
                  <c:v>96459.724400000006</c:v>
                </c:pt>
                <c:pt idx="7">
                  <c:v>43133.741600000001</c:v>
                </c:pt>
                <c:pt idx="8">
                  <c:v>90787.375300000014</c:v>
                </c:pt>
                <c:pt idx="9">
                  <c:v>439303.97529999993</c:v>
                </c:pt>
                <c:pt idx="10">
                  <c:v>80504.784000000014</c:v>
                </c:pt>
                <c:pt idx="11">
                  <c:v>180244.69990000001</c:v>
                </c:pt>
                <c:pt idx="12">
                  <c:v>28745.654400000003</c:v>
                </c:pt>
                <c:pt idx="13">
                  <c:v>70878.143800000005</c:v>
                </c:pt>
                <c:pt idx="14">
                  <c:v>181776.46600000001</c:v>
                </c:pt>
                <c:pt idx="15">
                  <c:v>25484.744999999999</c:v>
                </c:pt>
                <c:pt idx="16">
                  <c:v>25515.733700000001</c:v>
                </c:pt>
                <c:pt idx="17">
                  <c:v>10944.5265</c:v>
                </c:pt>
                <c:pt idx="18">
                  <c:v>220806.05239999999</c:v>
                </c:pt>
                <c:pt idx="19">
                  <c:v>135121.14150000003</c:v>
                </c:pt>
                <c:pt idx="20">
                  <c:v>57491.308799999999</c:v>
                </c:pt>
                <c:pt idx="21">
                  <c:v>216142.08410000001</c:v>
                </c:pt>
                <c:pt idx="22">
                  <c:v>47595.656600000002</c:v>
                </c:pt>
                <c:pt idx="23">
                  <c:v>231556.41720000005</c:v>
                </c:pt>
                <c:pt idx="24">
                  <c:v>11502.824500000001</c:v>
                </c:pt>
                <c:pt idx="25">
                  <c:v>51079.340200000006</c:v>
                </c:pt>
                <c:pt idx="26">
                  <c:v>30821.406800000001</c:v>
                </c:pt>
                <c:pt idx="27">
                  <c:v>50646.915399999998</c:v>
                </c:pt>
                <c:pt idx="28">
                  <c:v>263489.62400000001</c:v>
                </c:pt>
                <c:pt idx="29">
                  <c:v>207913.30350000004</c:v>
                </c:pt>
                <c:pt idx="30">
                  <c:v>9065.5190999999995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88-4284-9212-1FF3E41741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99383919"/>
        <c:axId val="974076415"/>
      </c:barChart>
      <c:valAx>
        <c:axId val="97407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  <a:r>
                  <a:rPr lang="en-US" baseline="0"/>
                  <a:t> in Euros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1.2479002624671916E-2"/>
              <c:y val="0.276379751062927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\ [$€-1]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383919"/>
        <c:crosses val="autoZero"/>
        <c:crossBetween val="between"/>
      </c:valAx>
      <c:catAx>
        <c:axId val="109938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Categories</a:t>
                </a:r>
                <a:r>
                  <a:rPr lang="en-US" baseline="0"/>
                  <a:t> of Bike by City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47033111408706435"/>
              <c:y val="0.951339156090901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076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 dirty="0"/>
              <a:t>Sales Quantity of Roadbikes vs Offroad bikes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Pivot!$A$5:$A$17</c:f>
              <c:multiLvlStrCache>
                <c:ptCount val="10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Feb</c:v>
                  </c:pt>
                  <c:pt idx="6">
                    <c:v>Mar</c:v>
                  </c:pt>
                  <c:pt idx="7">
                    <c:v>Apr</c:v>
                  </c:pt>
                  <c:pt idx="8">
                    <c:v>May</c:v>
                  </c:pt>
                  <c:pt idx="9">
                    <c:v>Jun</c:v>
                  </c:pt>
                </c:lvl>
                <c:lvl>
                  <c:pt idx="0">
                    <c:v>Offroad Bike </c:v>
                  </c:pt>
                  <c:pt idx="5">
                    <c:v>Roadbike </c:v>
                  </c:pt>
                </c:lvl>
              </c:multiLvlStrCache>
            </c:multiLvlStrRef>
          </c:cat>
          <c:val>
            <c:numRef>
              <c:f>Pivot!$B$5:$B$17</c:f>
              <c:numCache>
                <c:formatCode>General</c:formatCode>
                <c:ptCount val="10"/>
                <c:pt idx="0">
                  <c:v>35</c:v>
                </c:pt>
                <c:pt idx="1">
                  <c:v>938</c:v>
                </c:pt>
                <c:pt idx="2">
                  <c:v>1188</c:v>
                </c:pt>
                <c:pt idx="3">
                  <c:v>1433</c:v>
                </c:pt>
                <c:pt idx="4">
                  <c:v>2890</c:v>
                </c:pt>
                <c:pt idx="5">
                  <c:v>48</c:v>
                </c:pt>
                <c:pt idx="6">
                  <c:v>698</c:v>
                </c:pt>
                <c:pt idx="7">
                  <c:v>985</c:v>
                </c:pt>
                <c:pt idx="8">
                  <c:v>1091</c:v>
                </c:pt>
                <c:pt idx="9">
                  <c:v>2296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E4-4B61-8BB7-7D1907002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9383919"/>
        <c:axId val="974076415"/>
      </c:barChart>
      <c:catAx>
        <c:axId val="109938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Type</a:t>
                </a:r>
                <a:r>
                  <a:rPr lang="en-US" baseline="0"/>
                  <a:t> of bike by month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076415"/>
        <c:crosses val="autoZero"/>
        <c:auto val="1"/>
        <c:lblAlgn val="ctr"/>
        <c:lblOffset val="100"/>
        <c:noMultiLvlLbl val="0"/>
      </c:catAx>
      <c:valAx>
        <c:axId val="97407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Sales Quantity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383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Sales Quantity by Day of the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Pivot!$A$5:$A$12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Pivot!$B$5:$B$12</c:f>
              <c:numCache>
                <c:formatCode>General</c:formatCode>
                <c:ptCount val="7"/>
                <c:pt idx="0">
                  <c:v>3818</c:v>
                </c:pt>
                <c:pt idx="1">
                  <c:v>4457</c:v>
                </c:pt>
                <c:pt idx="2">
                  <c:v>3888</c:v>
                </c:pt>
                <c:pt idx="3">
                  <c:v>4055</c:v>
                </c:pt>
                <c:pt idx="4">
                  <c:v>3593</c:v>
                </c:pt>
                <c:pt idx="5">
                  <c:v>4032</c:v>
                </c:pt>
                <c:pt idx="6">
                  <c:v>5189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63-4E9B-A7C4-A477597956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99383919"/>
        <c:axId val="974076415"/>
      </c:barChart>
      <c:catAx>
        <c:axId val="109938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of the week</a:t>
                </a:r>
              </a:p>
            </c:rich>
          </c:tx>
          <c:layout>
            <c:manualLayout>
              <c:xMode val="edge"/>
              <c:yMode val="edge"/>
              <c:x val="0.47789493913203712"/>
              <c:y val="0.9514512279859236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076415"/>
        <c:crosses val="autoZero"/>
        <c:auto val="1"/>
        <c:lblAlgn val="ctr"/>
        <c:lblOffset val="100"/>
        <c:noMultiLvlLbl val="0"/>
      </c:catAx>
      <c:valAx>
        <c:axId val="97407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Sales Quantity</a:t>
                </a:r>
              </a:p>
            </c:rich>
          </c:tx>
          <c:layout>
            <c:manualLayout>
              <c:xMode val="edge"/>
              <c:yMode val="edge"/>
              <c:x val="5.6484687852185918E-3"/>
              <c:y val="0.367733651222472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383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Net revenue in USD</a:t>
            </a:r>
            <a:r>
              <a:rPr lang="en-US" baseline="0" dirty="0"/>
              <a:t> of diff. product categories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480-49F1-8568-6A62ED5829E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480-49F1-8568-6A62ED5829E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2480-49F1-8568-6A62ED5829E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2480-49F1-8568-6A62ED5829E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2480-49F1-8568-6A62ED5829E2}"/>
              </c:ext>
            </c:extLst>
          </c:dPt>
          <c:cat>
            <c:strRef>
              <c:f>Pivot!$A$5:$A$10</c:f>
              <c:strCache>
                <c:ptCount val="5"/>
                <c:pt idx="0">
                  <c:v>Accessories </c:v>
                </c:pt>
                <c:pt idx="1">
                  <c:v>Offroad Bike </c:v>
                </c:pt>
                <c:pt idx="2">
                  <c:v>Roadbike </c:v>
                </c:pt>
                <c:pt idx="3">
                  <c:v>Touring Bike </c:v>
                </c:pt>
                <c:pt idx="4">
                  <c:v>Trend Bike </c:v>
                </c:pt>
              </c:strCache>
            </c:strRef>
          </c:cat>
          <c:val>
            <c:numRef>
              <c:f>Pivot!$B$5:$B$10</c:f>
              <c:numCache>
                <c:formatCode>General</c:formatCode>
                <c:ptCount val="5"/>
                <c:pt idx="0">
                  <c:v>377059.25000000041</c:v>
                </c:pt>
                <c:pt idx="1">
                  <c:v>12908689.059999995</c:v>
                </c:pt>
                <c:pt idx="2">
                  <c:v>13261172.860000003</c:v>
                </c:pt>
                <c:pt idx="3">
                  <c:v>18130063.780000005</c:v>
                </c:pt>
                <c:pt idx="4">
                  <c:v>261369.01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480-49F1-8568-6A62ED582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323146018897416"/>
          <c:y val="0.2407407359696937"/>
          <c:w val="0.2079042733674627"/>
          <c:h val="0.434281169577143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4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Net Revenue of diff.</a:t>
            </a:r>
            <a:r>
              <a:rPr lang="en-US" baseline="0"/>
              <a:t> categories of bikes, by city, in US in June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multiLvlStrRef>
              <c:f>Pivot!$A$5:$A$53</c:f>
              <c:multiLvlStrCache>
                <c:ptCount val="44"/>
                <c:lvl>
                  <c:pt idx="0">
                    <c:v>Atlanta</c:v>
                  </c:pt>
                  <c:pt idx="1">
                    <c:v>Boston</c:v>
                  </c:pt>
                  <c:pt idx="2">
                    <c:v>Chicago</c:v>
                  </c:pt>
                  <c:pt idx="3">
                    <c:v>Denver</c:v>
                  </c:pt>
                  <c:pt idx="4">
                    <c:v>Detroit</c:v>
                  </c:pt>
                  <c:pt idx="5">
                    <c:v>Grand Rapids</c:v>
                  </c:pt>
                  <c:pt idx="6">
                    <c:v>Irvine</c:v>
                  </c:pt>
                  <c:pt idx="7">
                    <c:v>New York City</c:v>
                  </c:pt>
                  <c:pt idx="8">
                    <c:v>Palo Alto</c:v>
                  </c:pt>
                  <c:pt idx="9">
                    <c:v>Philadelphia</c:v>
                  </c:pt>
                  <c:pt idx="10">
                    <c:v>Seattle</c:v>
                  </c:pt>
                  <c:pt idx="11">
                    <c:v>Washington DC</c:v>
                  </c:pt>
                  <c:pt idx="12">
                    <c:v>Atlanta</c:v>
                  </c:pt>
                  <c:pt idx="13">
                    <c:v>Boston</c:v>
                  </c:pt>
                  <c:pt idx="14">
                    <c:v>Chicago</c:v>
                  </c:pt>
                  <c:pt idx="15">
                    <c:v>Denver</c:v>
                  </c:pt>
                  <c:pt idx="16">
                    <c:v>Detroit</c:v>
                  </c:pt>
                  <c:pt idx="17">
                    <c:v>Grand Rapids</c:v>
                  </c:pt>
                  <c:pt idx="18">
                    <c:v>Irvine</c:v>
                  </c:pt>
                  <c:pt idx="19">
                    <c:v>New York City</c:v>
                  </c:pt>
                  <c:pt idx="20">
                    <c:v>Palo Alto</c:v>
                  </c:pt>
                  <c:pt idx="21">
                    <c:v>Philadelphia</c:v>
                  </c:pt>
                  <c:pt idx="22">
                    <c:v>Seattle</c:v>
                  </c:pt>
                  <c:pt idx="23">
                    <c:v>Washington DC</c:v>
                  </c:pt>
                  <c:pt idx="24">
                    <c:v>Atlanta</c:v>
                  </c:pt>
                  <c:pt idx="25">
                    <c:v>Boston</c:v>
                  </c:pt>
                  <c:pt idx="26">
                    <c:v>Chicago</c:v>
                  </c:pt>
                  <c:pt idx="27">
                    <c:v>Denver</c:v>
                  </c:pt>
                  <c:pt idx="28">
                    <c:v>Detroit</c:v>
                  </c:pt>
                  <c:pt idx="29">
                    <c:v>Grand Rapids</c:v>
                  </c:pt>
                  <c:pt idx="30">
                    <c:v>Irvine</c:v>
                  </c:pt>
                  <c:pt idx="31">
                    <c:v>New York City</c:v>
                  </c:pt>
                  <c:pt idx="32">
                    <c:v>Palo Alto</c:v>
                  </c:pt>
                  <c:pt idx="33">
                    <c:v>Philadelphia</c:v>
                  </c:pt>
                  <c:pt idx="34">
                    <c:v>Seattle</c:v>
                  </c:pt>
                  <c:pt idx="35">
                    <c:v>Washington DC</c:v>
                  </c:pt>
                  <c:pt idx="36">
                    <c:v>Boston</c:v>
                  </c:pt>
                  <c:pt idx="37">
                    <c:v>Detroit</c:v>
                  </c:pt>
                  <c:pt idx="38">
                    <c:v>Grand Rapids</c:v>
                  </c:pt>
                  <c:pt idx="39">
                    <c:v>New York City</c:v>
                  </c:pt>
                  <c:pt idx="40">
                    <c:v>Palo Alto</c:v>
                  </c:pt>
                  <c:pt idx="41">
                    <c:v>Philadelphia</c:v>
                  </c:pt>
                  <c:pt idx="42">
                    <c:v>Seattle</c:v>
                  </c:pt>
                  <c:pt idx="43">
                    <c:v>Washington DC</c:v>
                  </c:pt>
                </c:lvl>
                <c:lvl>
                  <c:pt idx="0">
                    <c:v>Offroad Bike </c:v>
                  </c:pt>
                  <c:pt idx="12">
                    <c:v>Roadbike </c:v>
                  </c:pt>
                  <c:pt idx="24">
                    <c:v>Touring Bike </c:v>
                  </c:pt>
                  <c:pt idx="36">
                    <c:v>Trend Bike </c:v>
                  </c:pt>
                </c:lvl>
              </c:multiLvlStrCache>
            </c:multiLvlStrRef>
          </c:cat>
          <c:val>
            <c:numRef>
              <c:f>Pivot!$B$5:$B$53</c:f>
              <c:numCache>
                <c:formatCode>General</c:formatCode>
                <c:ptCount val="44"/>
                <c:pt idx="0">
                  <c:v>192254</c:v>
                </c:pt>
                <c:pt idx="1">
                  <c:v>461795</c:v>
                </c:pt>
                <c:pt idx="2">
                  <c:v>161990</c:v>
                </c:pt>
                <c:pt idx="3">
                  <c:v>184979</c:v>
                </c:pt>
                <c:pt idx="4">
                  <c:v>251909</c:v>
                </c:pt>
                <c:pt idx="5">
                  <c:v>87200</c:v>
                </c:pt>
                <c:pt idx="6">
                  <c:v>167034</c:v>
                </c:pt>
                <c:pt idx="7">
                  <c:v>205931</c:v>
                </c:pt>
                <c:pt idx="8">
                  <c:v>559075</c:v>
                </c:pt>
                <c:pt idx="9">
                  <c:v>243276</c:v>
                </c:pt>
                <c:pt idx="10">
                  <c:v>245410</c:v>
                </c:pt>
                <c:pt idx="11">
                  <c:v>179353</c:v>
                </c:pt>
                <c:pt idx="12">
                  <c:v>155442.5</c:v>
                </c:pt>
                <c:pt idx="13">
                  <c:v>398857.5</c:v>
                </c:pt>
                <c:pt idx="14">
                  <c:v>170332</c:v>
                </c:pt>
                <c:pt idx="15">
                  <c:v>256759</c:v>
                </c:pt>
                <c:pt idx="16">
                  <c:v>362101</c:v>
                </c:pt>
                <c:pt idx="17">
                  <c:v>92800</c:v>
                </c:pt>
                <c:pt idx="18">
                  <c:v>302446</c:v>
                </c:pt>
                <c:pt idx="19">
                  <c:v>271163.5</c:v>
                </c:pt>
                <c:pt idx="20">
                  <c:v>556462.5</c:v>
                </c:pt>
                <c:pt idx="21">
                  <c:v>194436.5</c:v>
                </c:pt>
                <c:pt idx="22">
                  <c:v>309236</c:v>
                </c:pt>
                <c:pt idx="23">
                  <c:v>200984</c:v>
                </c:pt>
                <c:pt idx="24">
                  <c:v>339500</c:v>
                </c:pt>
                <c:pt idx="25">
                  <c:v>425600</c:v>
                </c:pt>
                <c:pt idx="26">
                  <c:v>487134</c:v>
                </c:pt>
                <c:pt idx="27">
                  <c:v>205640</c:v>
                </c:pt>
                <c:pt idx="28">
                  <c:v>436306</c:v>
                </c:pt>
                <c:pt idx="29">
                  <c:v>152600</c:v>
                </c:pt>
                <c:pt idx="30">
                  <c:v>348424</c:v>
                </c:pt>
                <c:pt idx="31">
                  <c:v>309042</c:v>
                </c:pt>
                <c:pt idx="32">
                  <c:v>1060390</c:v>
                </c:pt>
                <c:pt idx="33">
                  <c:v>275480</c:v>
                </c:pt>
                <c:pt idx="34">
                  <c:v>214758</c:v>
                </c:pt>
                <c:pt idx="35">
                  <c:v>172854</c:v>
                </c:pt>
                <c:pt idx="36">
                  <c:v>2565</c:v>
                </c:pt>
                <c:pt idx="37">
                  <c:v>13386</c:v>
                </c:pt>
                <c:pt idx="38">
                  <c:v>7500</c:v>
                </c:pt>
                <c:pt idx="39">
                  <c:v>2910</c:v>
                </c:pt>
                <c:pt idx="40">
                  <c:v>21375</c:v>
                </c:pt>
                <c:pt idx="41">
                  <c:v>13095</c:v>
                </c:pt>
                <c:pt idx="42">
                  <c:v>9312</c:v>
                </c:pt>
                <c:pt idx="43">
                  <c:v>7275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C7-432B-871D-F1D462445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99383919"/>
        <c:axId val="974076415"/>
      </c:barChart>
      <c:valAx>
        <c:axId val="97407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Net Revenue in USD</a:t>
                </a:r>
              </a:p>
            </c:rich>
          </c:tx>
          <c:layout>
            <c:manualLayout>
              <c:xMode val="edge"/>
              <c:yMode val="edge"/>
              <c:x val="1.2479002624671916E-2"/>
              <c:y val="0.276379751062927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383919"/>
        <c:crosses val="autoZero"/>
        <c:crossBetween val="between"/>
      </c:valAx>
      <c:catAx>
        <c:axId val="109938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Categories</a:t>
                </a:r>
                <a:r>
                  <a:rPr lang="en-US" baseline="0"/>
                  <a:t> of Bike by City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47033111408706435"/>
              <c:y val="0.951339156090901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076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6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Net</a:t>
            </a:r>
            <a:r>
              <a:rPr lang="en-US" baseline="0"/>
              <a:t> Revenue in USD (Revenue - discounts) of Offroad bikes by Month in the US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Pivot!$A$5:$A$10</c:f>
              <c:multiLvlStrCache>
                <c:ptCount val="4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</c:lvl>
                <c:lvl>
                  <c:pt idx="0">
                    <c:v>Offroad Bike </c:v>
                  </c:pt>
                </c:lvl>
              </c:multiLvlStrCache>
            </c:multiLvlStrRef>
          </c:cat>
          <c:val>
            <c:numRef>
              <c:f>Pivot!$B$5:$B$10</c:f>
              <c:numCache>
                <c:formatCode>General</c:formatCode>
                <c:ptCount val="4"/>
                <c:pt idx="0">
                  <c:v>916292</c:v>
                </c:pt>
                <c:pt idx="1">
                  <c:v>1930005</c:v>
                </c:pt>
                <c:pt idx="2">
                  <c:v>2707595</c:v>
                </c:pt>
                <c:pt idx="3">
                  <c:v>2940206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0-4C1C-ABD5-0544430A2B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9383919"/>
        <c:axId val="974076415"/>
      </c:lineChart>
      <c:valAx>
        <c:axId val="97407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Net Revenue in USD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1.2479002624671916E-2"/>
              <c:y val="0.2763797510629278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383919"/>
        <c:crosses val="autoZero"/>
        <c:crossBetween val="between"/>
      </c:valAx>
      <c:catAx>
        <c:axId val="109938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layout>
            <c:manualLayout>
              <c:xMode val="edge"/>
              <c:yMode val="edge"/>
              <c:x val="0.47180854874530259"/>
              <c:y val="0.898987296245391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076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7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Net</a:t>
            </a:r>
            <a:r>
              <a:rPr lang="en-US" baseline="0"/>
              <a:t> Revenue in USD (Revenue - discounts) from Accessories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Pivot!$A$5:$A$15</c:f>
              <c:strCache>
                <c:ptCount val="10"/>
                <c:pt idx="0">
                  <c:v>Air Pump</c:v>
                </c:pt>
                <c:pt idx="1">
                  <c:v>Elbow Pads</c:v>
                </c:pt>
                <c:pt idx="2">
                  <c:v>First Aid Kit</c:v>
                </c:pt>
                <c:pt idx="3">
                  <c:v>Knee Pads</c:v>
                </c:pt>
                <c:pt idx="4">
                  <c:v>Off Road Helmet</c:v>
                </c:pt>
                <c:pt idx="5">
                  <c:v>Repair Kit</c:v>
                </c:pt>
                <c:pt idx="6">
                  <c:v>Road Helmet</c:v>
                </c:pt>
                <c:pt idx="7">
                  <c:v>T shirt</c:v>
                </c:pt>
                <c:pt idx="8">
                  <c:v>Water Bottle</c:v>
                </c:pt>
                <c:pt idx="9">
                  <c:v>Water Bottle Cage</c:v>
                </c:pt>
              </c:strCache>
            </c:strRef>
          </c:cat>
          <c:val>
            <c:numRef>
              <c:f>Pivot!$B$5:$B$15</c:f>
              <c:numCache>
                <c:formatCode>General</c:formatCode>
                <c:ptCount val="10"/>
                <c:pt idx="0">
                  <c:v>108681.14000000038</c:v>
                </c:pt>
                <c:pt idx="1">
                  <c:v>23883.16</c:v>
                </c:pt>
                <c:pt idx="2">
                  <c:v>39291.57</c:v>
                </c:pt>
                <c:pt idx="3">
                  <c:v>32481.890000000007</c:v>
                </c:pt>
                <c:pt idx="4">
                  <c:v>38035.919999999998</c:v>
                </c:pt>
                <c:pt idx="5">
                  <c:v>23097.360000000001</c:v>
                </c:pt>
                <c:pt idx="6">
                  <c:v>39254.81</c:v>
                </c:pt>
                <c:pt idx="7">
                  <c:v>21183.340000000011</c:v>
                </c:pt>
                <c:pt idx="8">
                  <c:v>14001.289999999995</c:v>
                </c:pt>
                <c:pt idx="9">
                  <c:v>37148.769999999953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C2-448A-A838-A44487DF23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99383919"/>
        <c:axId val="974076415"/>
      </c:barChart>
      <c:valAx>
        <c:axId val="97407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Net Revenue in USD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3.6146896483049934E-3"/>
              <c:y val="0.276379856223352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383919"/>
        <c:crosses val="autoZero"/>
        <c:crossBetween val="between"/>
      </c:valAx>
      <c:catAx>
        <c:axId val="109938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Accessory</a:t>
                </a:r>
              </a:p>
            </c:rich>
          </c:tx>
          <c:layout>
            <c:manualLayout>
              <c:xMode val="edge"/>
              <c:yMode val="edge"/>
              <c:x val="0.47180849182765816"/>
              <c:y val="0.951339156090901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076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7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Net</a:t>
            </a:r>
            <a:r>
              <a:rPr lang="en-US" baseline="0" dirty="0"/>
              <a:t> Revenue in USD (Revenue - discounts) from diff. Roadbikes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Pivot!$A$5:$A$10</c:f>
              <c:strCache>
                <c:ptCount val="5"/>
                <c:pt idx="0">
                  <c:v>Road Bike Alu Shimano</c:v>
                </c:pt>
                <c:pt idx="1">
                  <c:v>Road Bike Alu SRAM</c:v>
                </c:pt>
                <c:pt idx="2">
                  <c:v>Road Bike Carbon Campagnolo</c:v>
                </c:pt>
                <c:pt idx="3">
                  <c:v>Road Bike Carbon Shimano</c:v>
                </c:pt>
                <c:pt idx="4">
                  <c:v>Road Bike Carbon SRAM</c:v>
                </c:pt>
              </c:strCache>
            </c:strRef>
          </c:cat>
          <c:val>
            <c:numRef>
              <c:f>Pivot!$B$5:$B$10</c:f>
              <c:numCache>
                <c:formatCode>General</c:formatCode>
                <c:ptCount val="5"/>
                <c:pt idx="0">
                  <c:v>4110889.9599999981</c:v>
                </c:pt>
                <c:pt idx="1">
                  <c:v>1276789.81</c:v>
                </c:pt>
                <c:pt idx="2">
                  <c:v>1243266.0899999999</c:v>
                </c:pt>
                <c:pt idx="3">
                  <c:v>5170430.0599999996</c:v>
                </c:pt>
                <c:pt idx="4">
                  <c:v>1459796.9400000002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4F-4F26-8CDC-7579DF42A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99383919"/>
        <c:axId val="974076415"/>
      </c:barChart>
      <c:valAx>
        <c:axId val="97407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/>
                  <a:t>Net Revenue in USD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9.5242006106804854E-3"/>
              <c:y val="0.276379856223352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383919"/>
        <c:crosses val="autoZero"/>
        <c:crossBetween val="between"/>
      </c:valAx>
      <c:catAx>
        <c:axId val="109938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Type</a:t>
                </a:r>
                <a:r>
                  <a:rPr lang="en-US" baseline="0"/>
                  <a:t> of Roadbike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47033111408706435"/>
              <c:y val="0.944795187967755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076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[Lab Exercise GBI Data.xlsx]Pivot!PivotTable1</c:name>
    <c:fmtId val="7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Quantity of Offroad bikes in Germany by 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Pivot!$A$5:$A$16</c:f>
              <c:strCache>
                <c:ptCount val="11"/>
                <c:pt idx="0">
                  <c:v>Anklam</c:v>
                </c:pt>
                <c:pt idx="1">
                  <c:v>Berlin</c:v>
                </c:pt>
                <c:pt idx="2">
                  <c:v>Bochum</c:v>
                </c:pt>
                <c:pt idx="3">
                  <c:v>Frankfurt</c:v>
                </c:pt>
                <c:pt idx="4">
                  <c:v>Hamburg</c:v>
                </c:pt>
                <c:pt idx="5">
                  <c:v>Hannover</c:v>
                </c:pt>
                <c:pt idx="6">
                  <c:v>Heidelberg</c:v>
                </c:pt>
                <c:pt idx="7">
                  <c:v>Leipzig</c:v>
                </c:pt>
                <c:pt idx="8">
                  <c:v>Magdeburg</c:v>
                </c:pt>
                <c:pt idx="9">
                  <c:v>Munchen</c:v>
                </c:pt>
                <c:pt idx="10">
                  <c:v>Stuttgart</c:v>
                </c:pt>
              </c:strCache>
            </c:strRef>
          </c:cat>
          <c:val>
            <c:numRef>
              <c:f>Pivot!$B$5:$B$16</c:f>
              <c:numCache>
                <c:formatCode>General</c:formatCode>
                <c:ptCount val="11"/>
                <c:pt idx="0">
                  <c:v>35</c:v>
                </c:pt>
                <c:pt idx="1">
                  <c:v>187</c:v>
                </c:pt>
                <c:pt idx="2">
                  <c:v>60</c:v>
                </c:pt>
                <c:pt idx="3">
                  <c:v>154</c:v>
                </c:pt>
                <c:pt idx="4">
                  <c:v>376</c:v>
                </c:pt>
                <c:pt idx="5">
                  <c:v>144</c:v>
                </c:pt>
                <c:pt idx="6">
                  <c:v>114</c:v>
                </c:pt>
                <c:pt idx="7">
                  <c:v>66</c:v>
                </c:pt>
                <c:pt idx="8">
                  <c:v>104</c:v>
                </c:pt>
                <c:pt idx="9">
                  <c:v>522</c:v>
                </c:pt>
                <c:pt idx="10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5D-42E5-A822-EF2E89626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99383919"/>
        <c:axId val="974076415"/>
      </c:barChart>
      <c:valAx>
        <c:axId val="97407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Sales</a:t>
                </a:r>
                <a:r>
                  <a:rPr lang="en-US" baseline="0"/>
                  <a:t> Quantity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8.0469391990425666E-3"/>
              <c:y val="0.341464514302306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383919"/>
        <c:crosses val="autoZero"/>
        <c:crossBetween val="between"/>
      </c:valAx>
      <c:catAx>
        <c:axId val="1099383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City</a:t>
                </a:r>
              </a:p>
            </c:rich>
          </c:tx>
          <c:layout>
            <c:manualLayout>
              <c:xMode val="edge"/>
              <c:yMode val="edge"/>
              <c:x val="0.47180849182765816"/>
              <c:y val="0.951339156090901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076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6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8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5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28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7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08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0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3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95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9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9018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7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9065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12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77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6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BF3AE-1FC8-4B24-9419-2FDF2B20EC85}" type="datetimeFigureOut">
              <a:rPr lang="en-US" smtClean="0"/>
              <a:t>4/18/2020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88D920D-1C84-4CCE-B9A7-7A458F15F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6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  <p:sldLayoutId id="2147484112" r:id="rId12"/>
    <p:sldLayoutId id="2147484113" r:id="rId13"/>
    <p:sldLayoutId id="2147484114" r:id="rId14"/>
    <p:sldLayoutId id="2147484115" r:id="rId15"/>
    <p:sldLayoutId id="214748411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8954-9987-4C3D-A1D7-189A7F63D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Pivot Lab – CSCI 3700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AA883-EB57-4267-B68A-F2969D9F5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Michael Erwin</a:t>
            </a:r>
          </a:p>
        </p:txBody>
      </p:sp>
    </p:spTree>
    <p:extLst>
      <p:ext uri="{BB962C8B-B14F-4D97-AF65-F5344CB8AC3E}">
        <p14:creationId xmlns:p14="http://schemas.microsoft.com/office/powerpoint/2010/main" val="126820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0975DC-DAE7-4B94-8CBB-CAD8B9974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813234"/>
              </p:ext>
            </p:extLst>
          </p:nvPr>
        </p:nvGraphicFramePr>
        <p:xfrm>
          <a:off x="760366" y="48991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7E660E-6E0C-4D3C-A13D-B6362F5FE376}"/>
              </a:ext>
            </a:extLst>
          </p:cNvPr>
          <p:cNvSpPr txBox="1"/>
          <p:nvPr/>
        </p:nvSpPr>
        <p:spPr>
          <a:xfrm>
            <a:off x="1836106" y="4606376"/>
            <a:ext cx="64448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graph is fairly straightforward. The net revenue in USD increased from February to June. From March to May the rise was not as steep, however.</a:t>
            </a:r>
          </a:p>
        </p:txBody>
      </p:sp>
    </p:spTree>
    <p:extLst>
      <p:ext uri="{BB962C8B-B14F-4D97-AF65-F5344CB8AC3E}">
        <p14:creationId xmlns:p14="http://schemas.microsoft.com/office/powerpoint/2010/main" val="396190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9360"/>
              </p:ext>
            </p:extLst>
          </p:nvPr>
        </p:nvGraphicFramePr>
        <p:xfrm>
          <a:off x="464733" y="379914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B5CDBF-8B8E-4129-A3D3-D09392E1D17A}"/>
              </a:ext>
            </a:extLst>
          </p:cNvPr>
          <p:cNvSpPr txBox="1"/>
          <p:nvPr/>
        </p:nvSpPr>
        <p:spPr>
          <a:xfrm>
            <a:off x="1851247" y="4730130"/>
            <a:ext cx="58232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can see that München bought a particularly high amount (b/c high revenue) of Offroad bikes in March. Also, Stuttgart was the only city in Germany to buy Trend bikes in March.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97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973695"/>
              </p:ext>
            </p:extLst>
          </p:nvPr>
        </p:nvGraphicFramePr>
        <p:xfrm>
          <a:off x="389104" y="421165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BBE0B9-C842-4199-BDA3-786C211FD2E3}"/>
              </a:ext>
            </a:extLst>
          </p:cNvPr>
          <p:cNvSpPr txBox="1"/>
          <p:nvPr/>
        </p:nvSpPr>
        <p:spPr>
          <a:xfrm>
            <a:off x="2296987" y="4977636"/>
            <a:ext cx="4780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can observe that offroad bikes generally sell better in these months.</a:t>
            </a:r>
          </a:p>
        </p:txBody>
      </p:sp>
    </p:spTree>
    <p:extLst>
      <p:ext uri="{BB962C8B-B14F-4D97-AF65-F5344CB8AC3E}">
        <p14:creationId xmlns:p14="http://schemas.microsoft.com/office/powerpoint/2010/main" val="14432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836755"/>
              </p:ext>
            </p:extLst>
          </p:nvPr>
        </p:nvGraphicFramePr>
        <p:xfrm>
          <a:off x="584729" y="48418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3F2B3D-36BD-4E55-8946-0C38A1866FE4}"/>
              </a:ext>
            </a:extLst>
          </p:cNvPr>
          <p:cNvSpPr txBox="1"/>
          <p:nvPr/>
        </p:nvSpPr>
        <p:spPr>
          <a:xfrm>
            <a:off x="2720638" y="4998262"/>
            <a:ext cx="4324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see the productivity of different days based on the accumulative total sales quantity per day.</a:t>
            </a:r>
          </a:p>
        </p:txBody>
      </p:sp>
    </p:spTree>
    <p:extLst>
      <p:ext uri="{BB962C8B-B14F-4D97-AF65-F5344CB8AC3E}">
        <p14:creationId xmlns:p14="http://schemas.microsoft.com/office/powerpoint/2010/main" val="10512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531534"/>
              </p:ext>
            </p:extLst>
          </p:nvPr>
        </p:nvGraphicFramePr>
        <p:xfrm>
          <a:off x="182849" y="400541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185CE3A-D434-41ED-8418-15ECFFA645E1}"/>
              </a:ext>
            </a:extLst>
          </p:cNvPr>
          <p:cNvSpPr txBox="1"/>
          <p:nvPr/>
        </p:nvSpPr>
        <p:spPr>
          <a:xfrm>
            <a:off x="1613698" y="4991386"/>
            <a:ext cx="573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pie chart shows how much each product category contributed to the net revenue in USD.</a:t>
            </a:r>
          </a:p>
        </p:txBody>
      </p:sp>
    </p:spTree>
    <p:extLst>
      <p:ext uri="{BB962C8B-B14F-4D97-AF65-F5344CB8AC3E}">
        <p14:creationId xmlns:p14="http://schemas.microsoft.com/office/powerpoint/2010/main" val="198265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6425096"/>
              </p:ext>
            </p:extLst>
          </p:nvPr>
        </p:nvGraphicFramePr>
        <p:xfrm>
          <a:off x="519734" y="338663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46431D-9110-4026-B3E8-8C3A68ED731D}"/>
              </a:ext>
            </a:extLst>
          </p:cNvPr>
          <p:cNvSpPr txBox="1"/>
          <p:nvPr/>
        </p:nvSpPr>
        <p:spPr>
          <a:xfrm>
            <a:off x="2732416" y="4613252"/>
            <a:ext cx="41709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appears that the customer store in Palo Alto buys a significantly higher amount (b/c higher revenue) of Touring bikes in June than other cities. Also, it seems that Trend bikes aren’t that popular with any city in comparison to the others.</a:t>
            </a:r>
          </a:p>
        </p:txBody>
      </p:sp>
    </p:spTree>
    <p:extLst>
      <p:ext uri="{BB962C8B-B14F-4D97-AF65-F5344CB8AC3E}">
        <p14:creationId xmlns:p14="http://schemas.microsoft.com/office/powerpoint/2010/main" val="92088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64722"/>
              </p:ext>
            </p:extLst>
          </p:nvPr>
        </p:nvGraphicFramePr>
        <p:xfrm>
          <a:off x="657238" y="366164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DF3EFD-C6DD-423E-8D88-5859A7A17147}"/>
              </a:ext>
            </a:extLst>
          </p:cNvPr>
          <p:cNvSpPr txBox="1"/>
          <p:nvPr/>
        </p:nvSpPr>
        <p:spPr>
          <a:xfrm>
            <a:off x="1992188" y="4970761"/>
            <a:ext cx="5926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we might expect, the amount of Offroad bikes bought in the US increases (so more net revenue) from March to June as the weather gets nicer/hotter.</a:t>
            </a:r>
          </a:p>
        </p:txBody>
      </p:sp>
    </p:spTree>
    <p:extLst>
      <p:ext uri="{BB962C8B-B14F-4D97-AF65-F5344CB8AC3E}">
        <p14:creationId xmlns:p14="http://schemas.microsoft.com/office/powerpoint/2010/main" val="261774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393146"/>
              </p:ext>
            </p:extLst>
          </p:nvPr>
        </p:nvGraphicFramePr>
        <p:xfrm>
          <a:off x="609111" y="414290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C29A98-2D35-4BED-B130-9BDC93E00B39}"/>
              </a:ext>
            </a:extLst>
          </p:cNvPr>
          <p:cNvSpPr txBox="1"/>
          <p:nvPr/>
        </p:nvSpPr>
        <p:spPr>
          <a:xfrm>
            <a:off x="1836686" y="4750756"/>
            <a:ext cx="6141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can see that air pumps are by far the most popular accessory (by revenue), so those must be kept in stock.</a:t>
            </a:r>
          </a:p>
        </p:txBody>
      </p:sp>
    </p:spTree>
    <p:extLst>
      <p:ext uri="{BB962C8B-B14F-4D97-AF65-F5344CB8AC3E}">
        <p14:creationId xmlns:p14="http://schemas.microsoft.com/office/powerpoint/2010/main" val="925949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8484768"/>
              </p:ext>
            </p:extLst>
          </p:nvPr>
        </p:nvGraphicFramePr>
        <p:xfrm>
          <a:off x="574735" y="538043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ADF250-243E-4518-B82A-A7771CFCF29C}"/>
              </a:ext>
            </a:extLst>
          </p:cNvPr>
          <p:cNvSpPr txBox="1"/>
          <p:nvPr/>
        </p:nvSpPr>
        <p:spPr>
          <a:xfrm>
            <a:off x="2360920" y="4874508"/>
            <a:ext cx="5023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see that the ‘Road Bike Alu Shimano’ and the ‘Road Bike Carbon Shimano’ are </a:t>
            </a:r>
          </a:p>
          <a:p>
            <a:r>
              <a:rPr lang="en-US" dirty="0"/>
              <a:t>the most popular (highest revenue) roadbikes.</a:t>
            </a:r>
          </a:p>
        </p:txBody>
      </p:sp>
    </p:spTree>
    <p:extLst>
      <p:ext uri="{BB962C8B-B14F-4D97-AF65-F5344CB8AC3E}">
        <p14:creationId xmlns:p14="http://schemas.microsoft.com/office/powerpoint/2010/main" val="1907179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E67AD5-8B8A-402E-9F6D-80486F74A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920982"/>
              </p:ext>
            </p:extLst>
          </p:nvPr>
        </p:nvGraphicFramePr>
        <p:xfrm>
          <a:off x="588486" y="373039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C08095-29FE-497C-8F91-B47CF075AFFC}"/>
              </a:ext>
            </a:extLst>
          </p:cNvPr>
          <p:cNvSpPr txBox="1"/>
          <p:nvPr/>
        </p:nvSpPr>
        <p:spPr>
          <a:xfrm>
            <a:off x="1446117" y="4798881"/>
            <a:ext cx="6881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can see that Hamburg and München are the two top buyers of offroad bikes in Germany in terms of quantity.</a:t>
            </a:r>
          </a:p>
        </p:txBody>
      </p:sp>
    </p:spTree>
    <p:extLst>
      <p:ext uri="{BB962C8B-B14F-4D97-AF65-F5344CB8AC3E}">
        <p14:creationId xmlns:p14="http://schemas.microsoft.com/office/powerpoint/2010/main" val="22182640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</TotalTime>
  <Words>451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Pivot Lab – CSCI 3700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Pivot Lab – CSCI 3700</dc:title>
  <dc:creator>Michael Erwin</dc:creator>
  <cp:lastModifiedBy>Michael Erwin</cp:lastModifiedBy>
  <cp:revision>99</cp:revision>
  <dcterms:created xsi:type="dcterms:W3CDTF">2020-04-18T03:54:19Z</dcterms:created>
  <dcterms:modified xsi:type="dcterms:W3CDTF">2020-04-18T08:10:48Z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101020</vt:lpwstr>
  </property>
  <property fmtid="{D5CDD505-2E9C-101B-9397-08002B2CF9AE}" name="NXPowerLiteSettings" pid="3">
    <vt:lpwstr>C7000400038000</vt:lpwstr>
  </property>
  <property fmtid="{D5CDD505-2E9C-101B-9397-08002B2CF9AE}" name="NXPowerLiteVersion" pid="4">
    <vt:lpwstr>S9.0.1</vt:lpwstr>
  </property>
</Properties>
</file>